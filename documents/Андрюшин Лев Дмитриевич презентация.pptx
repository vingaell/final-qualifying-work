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6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3" r:id="rId3"/>
    <p:sldId id="274" r:id="rId4"/>
    <p:sldId id="275" r:id="rId5"/>
    <p:sldId id="258" r:id="rId6"/>
    <p:sldId id="259" r:id="rId7"/>
    <p:sldId id="260" r:id="rId8"/>
    <p:sldId id="261" r:id="rId9"/>
    <p:sldId id="276" r:id="rId10"/>
    <p:sldId id="278" r:id="rId11"/>
    <p:sldId id="277" r:id="rId12"/>
    <p:sldId id="263" r:id="rId13"/>
    <p:sldId id="264" r:id="rId14"/>
    <p:sldId id="285" r:id="rId15"/>
    <p:sldId id="265" r:id="rId16"/>
    <p:sldId id="279" r:id="rId17"/>
    <p:sldId id="273" r:id="rId18"/>
    <p:sldId id="268" r:id="rId19"/>
    <p:sldId id="280" r:id="rId20"/>
    <p:sldId id="269" r:id="rId21"/>
    <p:sldId id="270" r:id="rId22"/>
    <p:sldId id="272" r:id="rId23"/>
    <p:sldId id="282" r:id="rId24"/>
    <p:sldId id="281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989C3A-95BF-4E16-A59B-D1127C3C5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F9879-582A-4E46-AD0B-DEA29D0546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FFB70-FB90-495A-8CE2-980A00F3DC9C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5AC8F-FD8E-4D85-8143-9573C8DEE4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15F35-0847-452B-9186-A5E88D755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DD9C4-D7A2-4D12-87AD-9B1DC76C7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930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7AD45-8796-4D9F-99DE-9E14B3CA443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521A5-785E-4945-B7EB-80601B5AB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1577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D8DC-B2A7-40D4-920E-33FAEA3F7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61B0-B8D5-4C15-B3D8-3FAE75C69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8529-9536-41A5-B76E-0488CA6C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AA69-398C-482D-AE71-6E159191C4AC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F21B-F32E-4DC3-B73A-E8B776E3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133A8-299A-444A-9F47-AF8FACB2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3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CE9A-7CEA-4377-83AD-78D6B97F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FFD0D-3589-4D93-99CA-71B1ED816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FA53A-EDFF-42FA-B301-9E99DA70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60C3-4ECB-4F5E-9526-CCCF717EA3A5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24A1-49C1-483E-AA32-D31D315E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638E-F7DF-480F-A038-781C2B02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85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8D6A-390B-4BDA-8EB4-524103F2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DB5A6-7E13-4A36-AA67-526FE94D3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63E33-F7CF-4339-B345-F51A63DE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C4D4-A9CD-4D73-AB97-BA4F5A2965C3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7499-BD43-4A1C-A64E-98B2493E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7F5DA-E4CC-40D6-AE19-21E57C3E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56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2A92-BD2F-49ED-96F4-398E345B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3D38-7A9B-41A2-9A25-23378ADC8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EC84D-54F5-43D1-B888-59EB0AEF6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5BC75-F206-4A46-97C4-FEB83880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7A17-E53E-4571-B284-744C16AB9DF0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1802D-1A02-42B1-BE59-FFF9128A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0A0DD-4CA5-43B7-9ABB-5BCDC618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1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5BE5-6366-49DB-8457-9A75B421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06CF-E2E1-45F3-8B24-47C4BB047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A8DFC-D97C-4E49-8050-E31B1D396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755D3-FCB8-484F-BC0E-7C41BE46F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A2B57-314C-4CE9-A6DE-6D61049EE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8B2F2-3F42-48A7-B979-BBD257C0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0FD1-409E-4DC9-9BAA-034E1EC01496}" type="datetime1">
              <a:rPr lang="ru-RU" smtClean="0"/>
              <a:t>18.06.2026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9C15F-2CF9-428A-8F59-98780248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22546-7D32-45B6-A4EE-83169714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2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31AF-A59A-42A4-889F-7E92C6FF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50401-7B46-4229-9D55-50A5E08A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617B-5485-4BF9-BC43-653177F3694F}" type="datetime1">
              <a:rPr lang="ru-RU" smtClean="0"/>
              <a:t>18.06.2026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C8690-1AE9-4086-A238-748888CE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5DB40-E5E1-4512-A943-94D1F77D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14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F057E-CEE7-4B4D-9DBF-BB85F037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FB78-69C6-472B-BF12-39AA0B7DB615}" type="datetime1">
              <a:rPr lang="ru-RU" smtClean="0"/>
              <a:t>18.06.2026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B44D7-4F12-42A6-B94B-C524E85F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92A8E-32CF-427A-861B-5B7CF905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88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4FB5-68FE-4153-B353-AD603CDC5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40BF-A6E9-46E9-BCE1-8166E6F6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9D815-5DE2-4513-B1B0-B8C008B95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F98E3-515E-4930-A8FE-860C5EE0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F89D-3E4E-427D-931F-0EC32E55C358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3CAB2-57B1-4309-BA93-BE634DBD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D9310-5F4D-45FF-BF2F-72E636CD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85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3F0A-4699-4DDA-9B90-1B47B04D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C8819-6B78-48BA-A212-0A8DA00AA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D6B50-AE25-414F-B9AC-0A745DC75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65688-C5CD-49FE-81F6-C6BA3F0B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3BAB-7C93-492B-908B-67FB88B90CB4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46DD4-64EA-490A-8432-58EFBE35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1A5BA-5298-456C-92BB-FC9182F5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80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F03A-066C-4F47-A662-8A102A2D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91BC1-0EE2-4D96-8A31-150901A92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9BFD-F399-4BCE-9A81-5F33C08C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8BCC-643D-41D1-BF06-E10185FF3E7F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25C1-66C0-41A6-AA4D-DA464C82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4CAE0-1F66-435C-B3F2-AF2CCF51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73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339AE-AB18-48AD-A7EF-9CE79D490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F11DE-D100-4F1F-B83E-345D8252F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B2CEB-1475-41AC-9D1B-C9547BFD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FACE6-83CB-4181-B707-F22C2AD012BC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7BEF0-9AD1-4FD0-9062-404CEBE7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2A3F-ED16-4D45-A07C-60B29D35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9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16C2A-F28E-4538-8889-20A026E5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1AB8E-47F7-4E9F-9469-F39FA01EE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C0D22-F6E1-4DD3-96AA-A99347E24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6990F-5D0E-4BE4-B8A1-F8748B52E20B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4C15-5A51-450F-A726-3554B30C1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26A56-78AD-4196-97F2-F0457FD95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7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919-0DC6-4E2C-9406-D171BDFD0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548" y="1932495"/>
            <a:ext cx="10473179" cy="205823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бакалавра на тему: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обучение с подкреплением ИИ в позиционных играх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70C50-C776-48B7-90DF-695324706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56841"/>
            <a:ext cx="12192000" cy="2128937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М8О-412Б-22: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Андрюшин Лев Дмитриевич</a:t>
            </a:r>
          </a:p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 ОЦ 8 МАИ Аносова Наталья Павловна</a:t>
            </a:r>
          </a:p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Крылов Сергей Сергеевич, к.ф.-м.н, доцент, директор института №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667F9-2CAF-40AB-93CB-761FE2D2187D}"/>
              </a:ext>
            </a:extLst>
          </p:cNvPr>
          <p:cNvSpPr txBox="1"/>
          <p:nvPr/>
        </p:nvSpPr>
        <p:spPr>
          <a:xfrm>
            <a:off x="1186206" y="181285"/>
            <a:ext cx="1121239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Московский авиационный институт (национальный исследовательский университет)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Институт №8 «Компьютерные науки и прикладная математика»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Кафедра №806 «Вычислительная математика и программирование»</a:t>
            </a:r>
          </a:p>
        </p:txBody>
      </p:sp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8B3A596B-B5C0-4306-B997-950B9D2EAD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054" y="193045"/>
            <a:ext cx="1304042" cy="120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1D404C-B495-4473-9A7F-D64DE1B6E019}"/>
              </a:ext>
            </a:extLst>
          </p:cNvPr>
          <p:cNvSpPr txBox="1"/>
          <p:nvPr/>
        </p:nvSpPr>
        <p:spPr>
          <a:xfrm>
            <a:off x="0" y="6324113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58D70-7DDE-449D-A9C8-15F5C1453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5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2241-6235-47BD-9739-E31CA18C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8094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0980-8EF6-4E9D-9EE7-192F1A5DD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Обучение с подкреплением является одним из наиболее перспективных направлений искусственного интеллекта.</a:t>
            </a:r>
          </a:p>
          <a:p>
            <a:r>
              <a:rPr lang="ru-RU" dirty="0"/>
              <a:t>Игровые среды позволяют эффективно тестировать алгоритмы самостоятельного принятия решений.</a:t>
            </a:r>
          </a:p>
          <a:p>
            <a:r>
              <a:rPr lang="ru-RU" dirty="0"/>
              <a:t>Полученные результаты могут быть использованы при разработке интеллектуальных систем различного назначения.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97B2A-4535-4552-8342-CE310919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47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EACA-128D-457F-B609-673E231A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76"/>
            <a:ext cx="10515600" cy="688156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A177F-ACA8-4B1D-B3F9-E00C223F6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68" y="1423447"/>
            <a:ext cx="11265817" cy="509990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реализация системы искусственного интеллекта на основе методов обучения с подкреплением для позиционной пошаговой дуэльной стратегии с последующей интеграцией в игровой программный продукт.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5E1F3-C49D-457B-9301-9BA89890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63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6F3C-5F7C-4694-B3A6-13958CA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783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0308-EFF3-4A40-B54F-5E4A2FA92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03" y="857839"/>
            <a:ext cx="11566689" cy="5505254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формализация правил разработанной игровой системы;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проведение анализа предметной области и существующих подходов к разработке игровых интеллектуальных систем;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архитектуры системы искусственного интеллекта и итогового проекта;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реализация программных компонентов игровой системы и среды обучения модели;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и тестирование модели;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интеграция разработанного решения в игровой продукт.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2ECA9-468B-4279-9963-DAB56793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4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E14A-8C27-4E4F-8600-B50CA243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0705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правил разработанной игры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3CAAD-AE13-41A7-804F-55FBF1F1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22" y="786724"/>
            <a:ext cx="3591607" cy="3625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FC8D4-DC02-4D64-BFB6-7D964034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603" y="810705"/>
            <a:ext cx="3840294" cy="3659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5CB22C-EF0E-4382-B99A-C606B3F2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75" y="762743"/>
            <a:ext cx="4776050" cy="36734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928900-E7F8-4963-9A23-A70E40CBC29E}"/>
              </a:ext>
            </a:extLst>
          </p:cNvPr>
          <p:cNvSpPr txBox="1"/>
          <p:nvPr/>
        </p:nvSpPr>
        <p:spPr>
          <a:xfrm>
            <a:off x="245097" y="4562573"/>
            <a:ext cx="3403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Победа черных закрытием квадрата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6BDA9-C78F-44AA-8B88-028316AAF74D}"/>
              </a:ext>
            </a:extLst>
          </p:cNvPr>
          <p:cNvSpPr txBox="1"/>
          <p:nvPr/>
        </p:nvSpPr>
        <p:spPr>
          <a:xfrm>
            <a:off x="3959258" y="4436195"/>
            <a:ext cx="439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Игра продолжается, оба соперника закрыли по одной области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9ED8B-4D43-4850-A714-910A091A86E3}"/>
              </a:ext>
            </a:extLst>
          </p:cNvPr>
          <p:cNvSpPr txBox="1"/>
          <p:nvPr/>
        </p:nvSpPr>
        <p:spPr>
          <a:xfrm>
            <a:off x="8576597" y="4562573"/>
            <a:ext cx="33703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Победы черных, закрытием треугольника на границе поля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637204F-5A9D-47D6-8AAF-A3FA1FC2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C90B-58EB-4535-88C8-B67743AA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391"/>
            <a:ext cx="10515600" cy="107465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алгоритмов принятия решений к разработанной игре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9181-8CFA-4A0D-A106-BB681120B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4"/>
            <a:ext cx="10515600" cy="50244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возможных игровых конфигураций: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≈ 4.135 × 10</a:t>
            </a:r>
            <a:r>
              <a:rPr lang="ru-RU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56 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доступных действий каждый ход:</a:t>
            </a:r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82 –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где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хода.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алгоритмов: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Классическое дерево решений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Модернизации дерева решений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 подкреплением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44589-08F8-400B-8F68-D077BEAD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335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4C74-34E5-482E-A7A1-89C5B1C9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334"/>
            <a:ext cx="10515600" cy="68125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 подкреплением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D574-5E6A-4081-9EF4-E32B794D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596"/>
            <a:ext cx="10515600" cy="6042581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Обучение с подкреплением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машинного обучения, при котором агент обучается стратегии поведения через взаимодействие со средой и получение вознаграждения или штрафов за совершаемые действия: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Агент получает информацию о текущем состоянии игрового поля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состояния выбирается действие (ход)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выполнения действия агент получает награду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обучения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максимизация суммарного вознаграждения и формирование эффективной стратегии игры</a:t>
            </a:r>
          </a:p>
          <a:p>
            <a:pPr lvl="1" algn="just"/>
            <a:endParaRPr lang="ru-RU" sz="18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latin typeface="Cambria Math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35EAA-5AE4-4D4E-BE62-81B77254A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832" y="4740506"/>
            <a:ext cx="9070334" cy="178284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7296290-C3A9-4D15-9D5D-6DC5CC17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9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6D1C-CC8A-4247-902C-8F25FEAF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алгоритма обучения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64FC-7622-40B6-B2D0-F9F47DA54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681038"/>
            <a:ext cx="11500701" cy="549592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(Deep Q-Network)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Value-based алгоритм обучения с подкреплением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Обучает Q-функцию, оценивающую ожидаемую награду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Политика формируется выбором действия с наибольшим Q-значением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(Proximal Policy Optimization)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Policy-based алгоритм обучения с подкреплением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Непосредственно обучает стратегию выбора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Обновляет параметры политики на основе преимущества (advantage) и собранного опыта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AlphaZero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Комбинирует нейронную сеть и поиск по дереву Монте-Карло (MCTS)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Нейронная сеть оценивает состояние и вероятности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Поиск используется для выбора наиболее перспективного хода</a:t>
            </a:r>
          </a:p>
          <a:p>
            <a:pPr marL="0" indent="0" algn="just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A52D-4089-42BB-8E7B-085797B7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397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13B3-BC2E-43C9-B9AF-A0D3E964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955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отказа 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A02AA-F1C4-4EE2-9D2D-4ADD3F5B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6" y="3428999"/>
            <a:ext cx="5810054" cy="2975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F8BA1-3733-4790-A754-5160036B3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955206" cy="29755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D5BC7E-1372-4B29-992F-B5118F072888}"/>
              </a:ext>
            </a:extLst>
          </p:cNvPr>
          <p:cNvSpPr txBox="1"/>
          <p:nvPr/>
        </p:nvSpPr>
        <p:spPr>
          <a:xfrm>
            <a:off x="693048" y="661321"/>
            <a:ext cx="11213006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не демонстрировала улучшения качества игры;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гиперпараметров не приводило к заметному прогрессу;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функции вознаграждения не дало ожидаемого эффекта;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каналов наблюлюдения тоже не дало никаких результатов;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обучение не выглядело перспективным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75DB12-FC3E-4A78-B7A7-A8C612F5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6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34B8-43E7-4012-A253-901C9582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4655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отказа от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AlphaZero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14D8-2AF1-4ECC-A70E-D70F64C7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234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Существенное усложнение архитектуры разрабатываемой системы.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Значительное увеличение вычислительных затрат на обучение.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 объём дополнительной реализации и экспериментальной настройки.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риск не завершить разработку в рамках доступного времени.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776C5-8653-4A7B-8FF3-93272859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64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9143-DC08-4F03-A4CB-16B309B3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985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выбора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428B6-25C8-41F2-A58A-3702E6018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76" y="2389694"/>
            <a:ext cx="7586440" cy="4468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6CE3F9-F7F7-416C-A138-2CDFD2A46DE1}"/>
              </a:ext>
            </a:extLst>
          </p:cNvPr>
          <p:cNvSpPr txBox="1"/>
          <p:nvPr/>
        </p:nvSpPr>
        <p:spPr>
          <a:xfrm>
            <a:off x="641023" y="678730"/>
            <a:ext cx="11312165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Стабильное обновление стратегии без резких изменений поведения;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Эффективная работа с долгосрочными последствиями игровых решений;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устойчивого роста качества игры в ходе обучени.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5B77F2-7D84-4206-A044-A996396E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993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F264-2A02-4B0E-9693-21FA8D3F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3" y="0"/>
            <a:ext cx="11340445" cy="5938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PPO (Proximal Policy Optimization)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1B739-23CC-404A-8772-BCDD74F02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518474"/>
            <a:ext cx="11576115" cy="62169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75637-D392-4201-B920-0264D94C9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25" y="766127"/>
            <a:ext cx="10963373" cy="572166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B00BB5-260A-4294-AC09-C78FA201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21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1956-1B71-4D16-A7D0-DDD74EC1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841"/>
            <a:ext cx="10515600" cy="71643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проекта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DD4EBC-856F-45BB-9598-3870A79E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49" y="828865"/>
            <a:ext cx="5174448" cy="589261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2E56EF-4D80-4B6D-88B9-D9A68C9F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61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1956-1B71-4D16-A7D0-DDD74EC1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841"/>
            <a:ext cx="10515600" cy="71643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обучения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0DF82-FA9D-45A2-ACCE-2DF4F3F0943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91" y="1274560"/>
            <a:ext cx="7777113" cy="43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2E56EF-4D80-4B6D-88B9-D9A68C9F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288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CCD2-DD4D-4432-A952-D36ED694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29"/>
            <a:ext cx="10515600" cy="6881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процесса обучения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E4F24-EDE0-40B2-ACC4-E067CC33F419}"/>
              </a:ext>
            </a:extLst>
          </p:cNvPr>
          <p:cNvSpPr txBox="1"/>
          <p:nvPr/>
        </p:nvSpPr>
        <p:spPr>
          <a:xfrm>
            <a:off x="263951" y="838986"/>
            <a:ext cx="11679810" cy="483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процессе обучения нейронная сеть взаимодействовует с игровой средой, последовательно анализируя состояния игрового поля и выбирая действия на основе текущей стратегии. На каждом шаге нейронная сеть получает текущее состояние игрового поля в виде тензора размерности 9×9×18 и формировала вероятности возможных действий. Пространство действий состоит из 162 возможных ходов.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исключения недопустимых действий использовался механизм action masking, запрещающий выбор невозможных ходов до этапа принятия решения моделью.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776D6-416F-41F7-B6EE-CE29F620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020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BF37-214B-4CD1-9A5F-7AD22603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079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605F-8C2B-404E-8603-B83376FB0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203"/>
            <a:ext cx="10515600" cy="529567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0–4 содержат информацию о пустых клетках и расположении фигур обоих игроков;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5–11 описывают локальное окружение клетки, включая количество соседних фигур, граничных элементов, степень заполненности области, а также распределение фигур различных типов среди соседних клеток;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12–13 содержат эвристическую оценку потенциала формирования замкнутых областей для различных типов фигур;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15-16 показывают клетки, в которые, если поставить квадрат или треугольник, можно «закрыть область»;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 14 показывают оставшееся до конца количество ходов;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 17 показывает являеется ли текущий игрок агентом или нет;</a:t>
            </a:r>
          </a:p>
          <a:p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F2B66-C2D2-4AB4-8DC6-39A5F130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73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52C3-9CF8-43A5-B55E-60748245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75"/>
            <a:ext cx="10515600" cy="80127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Турнирная система отбора соперников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017C96-C242-49CA-8C6E-25477951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933255"/>
            <a:ext cx="10972800" cy="52437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 в фиксированное число эпизодов проводится турнир.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турнира: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лучших моделей по рейтингу Elo с предыдущего турнира;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текущая обучаемая модель;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4 проблемных моделей, против которых обучаемая модель в прошлом турнире, показала минимальный процент побед;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 модели из архива для заполнения оставшихся мест.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турнира формируется новый пул соперников для обучения: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лучших моделей по Elo;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наиболее проблемных соперника;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 архивные модели.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5F41B-0982-4C91-A9AA-8D6AE192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14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DE3E-0050-4D3E-9EA0-9752CA78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8"/>
            <a:ext cx="10515600" cy="763572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награды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169F-BE7F-4519-8588-DDF0D21AC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857840"/>
            <a:ext cx="11265031" cy="5319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награда: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Победа: +1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Поражение: от -1 до -3.5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Ничья: 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Небольшой штраф каждый ход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награда: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 формирования собственных областей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 разрушения областей соперника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Штраф за опасные и заведомо невыгодные ходы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Штраф за упускание победы и разрушение своих областей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EAD2A-7361-4050-9EBC-499DB7C3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847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E6F7-C867-43D0-83AB-8A7564D7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9813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финального тестирования модели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 прошлых версий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9258A-0EAB-444A-9C8F-F6464504C7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2787" y="1146780"/>
            <a:ext cx="9926426" cy="53921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AEE63-357E-4EA5-88CF-AAEE792F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98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833C-C15B-4649-8BF7-7ECFB0E0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23"/>
            <a:ext cx="10515600" cy="56791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готовый проект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5284B8D-501D-4F92-A4CE-2664BDF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20</a:t>
            </a:fld>
            <a:endParaRPr lang="ru-R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B94865-79A5-411C-9CA1-7C7B92A0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3" y="750602"/>
            <a:ext cx="6203647" cy="6107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D0B982-355B-49A9-ACB3-80475F77E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43" y="1399091"/>
            <a:ext cx="4476759" cy="1647447"/>
          </a:xfrm>
          <a:prstGeom prst="rect">
            <a:avLst/>
          </a:prstGeom>
        </p:spPr>
      </p:pic>
      <p:pic>
        <p:nvPicPr>
          <p:cNvPr id="1034" name="Picture 10" descr="NuGet Gallery | Microsoft.ML.OnnxRuntime 1.26.0">
            <a:extLst>
              <a:ext uri="{FF2B5EF4-FFF2-40B4-BE49-F238E27FC236}">
                <a16:creationId xmlns:a16="http://schemas.microsoft.com/office/drawing/2014/main" id="{838E6A1C-A71C-4250-9FB3-D50A1681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242" y="3107617"/>
            <a:ext cx="6666480" cy="375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70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1B5B-64D0-4F94-B0D8-628BEB4A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9"/>
            <a:ext cx="10515600" cy="876692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C616B2A-AE3A-42A3-8168-20E092426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78368"/>
              </p:ext>
            </p:extLst>
          </p:nvPr>
        </p:nvGraphicFramePr>
        <p:xfrm>
          <a:off x="527902" y="1728334"/>
          <a:ext cx="1134987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645">
                  <a:extLst>
                    <a:ext uri="{9D8B030D-6E8A-4147-A177-3AD203B41FA5}">
                      <a16:colId xmlns:a16="http://schemas.microsoft.com/office/drawing/2014/main" val="1631302885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1855177090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2242823926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1024895379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2793410330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354523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Период партии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Количество попыток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Успешные случаи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Неуспешные случаи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Успешность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689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До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78.9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37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После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46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73.9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76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До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84.3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5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После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96918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27BEA-83CB-431F-9B77-15757CB7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838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3E1A-9486-4E48-8BC0-B97EC9A3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930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F545F-7284-4C3C-A434-F8D63A665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40" y="669303"/>
            <a:ext cx="11434714" cy="618869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разработана система ИИ для позиционной игры на основе обучения с подкреплением (PPO).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работы: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Формализованы правила игровой среды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анализ предметной области и существующих подхов к разработке игровых интеллектуальных систем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архитектура системы искусственного интеллекта и итогового проекта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программные компоненты игровой системы и среды обучения модели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была обучена и протестирована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была интегрирована в итоговый проект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формирует базовую стратегию игры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Учитывает тактику и локальные ситуации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Демонстрирует работоспособность подхода RL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B582E-D25C-434A-B547-203DEB55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9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07C6-21A5-43A6-A0E5-0A015D7A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24425"/>
          </a:xfrm>
        </p:spPr>
        <p:txBody>
          <a:bodyPr/>
          <a:lstStyle/>
          <a:p>
            <a:pPr algn="ctr"/>
            <a:r>
              <a:rPr lang="ru-RU" b="1" dirty="0"/>
              <a:t>Перспективы развития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CEA6-D1C9-4866-9355-AADBC870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839"/>
            <a:ext cx="10515600" cy="5319124"/>
          </a:xfrm>
        </p:spPr>
        <p:txBody>
          <a:bodyPr/>
          <a:lstStyle/>
          <a:p>
            <a:r>
              <a:rPr lang="ru-RU" dirty="0"/>
              <a:t>Увеличение времени обучения</a:t>
            </a:r>
          </a:p>
          <a:p>
            <a:r>
              <a:rPr lang="ru-RU" dirty="0"/>
              <a:t>Дальнейшее улучшение функции награды</a:t>
            </a:r>
          </a:p>
          <a:p>
            <a:r>
              <a:rPr lang="ru-RU" dirty="0"/>
              <a:t>Расширение правил и типов фигур</a:t>
            </a:r>
          </a:p>
          <a:p>
            <a:r>
              <a:rPr lang="ru-RU" dirty="0"/>
              <a:t>Переход на </a:t>
            </a:r>
            <a:r>
              <a:rPr lang="en-US" dirty="0" err="1"/>
              <a:t>AlphaZero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19845-1E4D-4F29-9120-CE381C1B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532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7B17-9BEB-43F2-B3ED-95275F82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71895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QR-код репозитория с исходным кодом</a:t>
            </a:r>
            <a:endParaRPr lang="ru-RU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A918A-4FC1-4AE3-B692-31C1936E68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078" y="876692"/>
            <a:ext cx="5760085" cy="57600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CB2F1-8818-4AD1-AB5C-046C3074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2077</TotalTime>
  <Words>1077</Words>
  <Application>Microsoft Office PowerPoint</Application>
  <PresentationFormat>Widescreen</PresentationFormat>
  <Paragraphs>189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Times New Roman</vt:lpstr>
      <vt:lpstr>Office Theme</vt:lpstr>
      <vt:lpstr>Выпускная квалификационная работа бакалавра на тему: Использование обучение с подкреплением ИИ в позиционных играх</vt:lpstr>
      <vt:lpstr>Актуальность темы</vt:lpstr>
      <vt:lpstr>Цель работы</vt:lpstr>
      <vt:lpstr>Задачи работы</vt:lpstr>
      <vt:lpstr>Описание правил разработанной игры</vt:lpstr>
      <vt:lpstr>Анализ алгоритмов принятия решений к разработанной игре</vt:lpstr>
      <vt:lpstr>Обучение с подкреплением</vt:lpstr>
      <vt:lpstr>Выбор алгоритма обучения</vt:lpstr>
      <vt:lpstr>Причины отказа от DQN</vt:lpstr>
      <vt:lpstr>Причины отказа от AlphaZero</vt:lpstr>
      <vt:lpstr>Причины выбора PPO</vt:lpstr>
      <vt:lpstr>Алгоритм PPO (Proximal Policy Optimization)</vt:lpstr>
      <vt:lpstr>Архитектура проекта</vt:lpstr>
      <vt:lpstr>Архитектура обучения</vt:lpstr>
      <vt:lpstr>Описание процесса обучения</vt:lpstr>
      <vt:lpstr>Каналы</vt:lpstr>
      <vt:lpstr>Турнирная система отбора соперников</vt:lpstr>
      <vt:lpstr>Функция награды</vt:lpstr>
      <vt:lpstr>Результаты финального тестирования модели против прошлых версий</vt:lpstr>
      <vt:lpstr>Интеграция в готовый проект</vt:lpstr>
      <vt:lpstr>Ручное тестирование</vt:lpstr>
      <vt:lpstr>Заключение</vt:lpstr>
      <vt:lpstr>Перспективы развития</vt:lpstr>
      <vt:lpstr>QR-код репозитория с исходным кодом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обучение с подкреплением ИИ в позиционных играх</dc:title>
  <dc:creator>Vingael</dc:creator>
  <cp:lastModifiedBy>Vingael</cp:lastModifiedBy>
  <cp:revision>130</cp:revision>
  <dcterms:created xsi:type="dcterms:W3CDTF">2026-05-17T23:36:26Z</dcterms:created>
  <dcterms:modified xsi:type="dcterms:W3CDTF">2026-06-18T11:09:01Z</dcterms:modified>
</cp:coreProperties>
</file>